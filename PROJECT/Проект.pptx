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90" r:id="rId10"/>
    <p:sldId id="262" r:id="rId11"/>
    <p:sldId id="263" r:id="rId12"/>
    <p:sldId id="264" r:id="rId13"/>
    <p:sldId id="265" r:id="rId14"/>
    <p:sldId id="266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C2AEFA-F53E-4315-AB99-AAC5F7A6205D}">
  <a:tblStyle styleId="{C5C2AEFA-F53E-4315-AB99-AAC5F7A620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144" y="318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3ce85d903d_0_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3ce85d903d_0_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{C5C2AEFA-F53E-4315-AB99-AAC5F7A6205D}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{C5C2AEFA-F53E-4315-AB99-AAC5F7A6205D}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hyperlink" Target="https://github.com/boriska-17/otus-PostgreSQL-2026-03/tree/41765a5a1ac97728e722ca93792e82dec62d4e14/PROJECT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132377" y="-3290394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192843" y="1400731"/>
            <a:ext cx="8637457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Миграция базы данных АСУ МИИТ из СУБД Oracle на </a:t>
            </a:r>
            <a:r>
              <a:rPr lang="ru-RU" sz="40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PostgreSQL</a:t>
            </a:r>
            <a:endParaRPr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249256" y="3668421"/>
            <a:ext cx="3619206" cy="923602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249256" y="3668421"/>
            <a:ext cx="3619207" cy="974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dirty="0" err="1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PostgreSQL</a:t>
            </a:r>
            <a:r>
              <a:rPr lang="ru-RU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 для администраторов баз данных и разработчиков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772905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Тема: </a:t>
            </a:r>
            <a:r>
              <a:rPr lang="ru-RU" sz="3000" dirty="0"/>
              <a:t>Миграция базы данных АСУ МИИТ из СУБД Oracle на </a:t>
            </a:r>
            <a:r>
              <a:rPr lang="ru-RU" sz="3000" dirty="0" err="1"/>
              <a:t>PostgreSQL</a:t>
            </a:r>
            <a:br>
              <a:rPr lang="ru-RU" sz="3000" dirty="0"/>
            </a:b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Борис Кужнуров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 Medium"/>
                <a:ea typeface="Roboto Medium"/>
                <a:cs typeface="Roboto Medium"/>
                <a:sym typeface="Roboto Medium"/>
              </a:rPr>
              <a:t>Разрабатывем корпоративную систему вуза с 2002 года</a:t>
            </a:r>
            <a:endParaRPr lang="en-US" sz="13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D34AFE-4257-6119-988A-FE22C630F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55" y="1966379"/>
            <a:ext cx="2095500" cy="2790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3526095236"/>
              </p:ext>
            </p:extLst>
          </p:nvPr>
        </p:nvGraphicFramePr>
        <p:xfrm>
          <a:off x="952500" y="2382125"/>
          <a:ext cx="7239000" cy="2380719"/>
        </p:xfrm>
        <a:graphic>
          <a:graphicData uri="http://schemas.openxmlformats.org/drawingml/2006/table">
            <a:tbl>
              <a:tblPr>
                <a:noFill/>
                <a:tableStyleId>{C5C2AEFA-F53E-4315-AB99-AAC5F7A6205D}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Научиться работать с СУБД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PostgreSQL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Познакомиться со средствами миграции с СУБД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Oracle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PostgreSQL</a:t>
                      </a:r>
                      <a:endParaRPr lang="ru-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Поработать с выбранным средством миграции «вживую»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Сделать выводы по планированию миграции с учётом полученных результатов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2712450489"/>
              </p:ext>
            </p:extLst>
          </p:nvPr>
        </p:nvGraphicFramePr>
        <p:xfrm>
          <a:off x="952500" y="1897775"/>
          <a:ext cx="7239000" cy="2693012"/>
        </p:xfrm>
        <a:graphic>
          <a:graphicData uri="http://schemas.openxmlformats.org/drawingml/2006/table">
            <a:tbl>
              <a:tblPr>
                <a:noFill/>
                <a:tableStyleId>{C5C2AEFA-F53E-4315-AB99-AAC5F7A6205D}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Виртуальная машина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Linux Ubuntu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25.10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VmWare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СУБД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Postgres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версии 18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Oracle client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linux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sqlplus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lang="en-US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Приложение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ora2pg </a:t>
                      </a:r>
                      <a:r>
                        <a:rPr lang="ru-RU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вирсии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25 для миграции структуры и данных</a:t>
                      </a:r>
                      <a:endParaRPr lang="en-US"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 процессе работы пользовался подсказками от Алисы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AI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775" y="146260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8" name="Google Shape;5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775" y="217579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9" name="Google Shape;53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775" y="285206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0" name="Google Shape;540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9775" y="3519916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1" name="Google Shape;541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9775" y="4187778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42" name="Google Shape;542;p69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43" name="Google Shape;543;p69"/>
          <p:cNvSpPr txBox="1"/>
          <p:nvPr/>
        </p:nvSpPr>
        <p:spPr>
          <a:xfrm>
            <a:off x="1508200" y="1552261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9"/>
          <p:cNvSpPr txBox="1"/>
          <p:nvPr/>
        </p:nvSpPr>
        <p:spPr>
          <a:xfrm>
            <a:off x="1508200" y="226545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69"/>
          <p:cNvSpPr txBox="1"/>
          <p:nvPr/>
        </p:nvSpPr>
        <p:spPr>
          <a:xfrm>
            <a:off x="1508200" y="294172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69"/>
          <p:cNvSpPr txBox="1"/>
          <p:nvPr/>
        </p:nvSpPr>
        <p:spPr>
          <a:xfrm>
            <a:off x="1508200" y="3609577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69"/>
          <p:cNvSpPr txBox="1"/>
          <p:nvPr/>
        </p:nvSpPr>
        <p:spPr>
          <a:xfrm>
            <a:off x="1508200" y="4277439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48" name="Google Shape;548;p69"/>
          <p:cNvGraphicFramePr/>
          <p:nvPr>
            <p:extLst>
              <p:ext uri="{D42A27DB-BD31-4B8C-83A1-F6EECF244321}">
                <p14:modId xmlns:p14="http://schemas.microsoft.com/office/powerpoint/2010/main" val="82546590"/>
              </p:ext>
            </p:extLst>
          </p:nvPr>
        </p:nvGraphicFramePr>
        <p:xfrm>
          <a:off x="2781050" y="1435100"/>
          <a:ext cx="5494225" cy="4186941"/>
        </p:xfrm>
        <a:graphic>
          <a:graphicData uri="http://schemas.openxmlformats.org/drawingml/2006/table">
            <a:tbl>
              <a:tblPr>
                <a:noFill/>
                <a:tableStyleId>{C5C2AEFA-F53E-4315-AB99-AAC5F7A6205D}</a:tableStyleId>
              </a:tblPr>
              <a:tblGrid>
                <a:gridCol w="549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03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1500" dirty="0"/>
                        <a:t>Установка виртуальной машины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10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 программе</a:t>
                      </a:r>
                      <a:r>
                        <a:rPr lang="ru" sz="10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000" b="0" i="0" u="none" strike="noStrike" cap="none" spc="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vmware</a:t>
                      </a:r>
                      <a:r>
                        <a:rPr lang="en-US" sz="10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создал виртуальную машину на </a:t>
                      </a:r>
                      <a:r>
                        <a:rPr lang="en-US" sz="10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Linux Ubuntu 25.10</a:t>
                      </a:r>
                      <a:endParaRPr sz="1000" b="0" i="0" u="none" strike="noStrike" cap="none" spc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4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  <a:tabLst/>
                        <a:defRPr/>
                      </a:pPr>
                      <a:r>
                        <a:rPr lang="ru-RU" sz="1500" b="0" i="0" u="none" strike="noStrike" cap="none" spc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Установка </a:t>
                      </a:r>
                      <a:r>
                        <a:rPr lang="en-US" sz="1500" b="0" i="0" u="none" strike="noStrike" cap="none" spc="0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postgreSQL</a:t>
                      </a:r>
                      <a:endParaRPr lang="ru-RU" sz="1500" b="0" i="0" u="none" strike="noStrike" cap="none" spc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виртуальной машине установил СУБД 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PostgreSQL 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18й версии</a:t>
                      </a:r>
                      <a:endParaRPr sz="15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2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  <a:tabLst/>
                        <a:defRPr/>
                      </a:pPr>
                      <a:r>
                        <a:rPr lang="ru-RU" sz="1500" b="0" i="0" u="none" strike="noStrike" cap="none" spc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Установка </a:t>
                      </a:r>
                      <a:r>
                        <a:rPr lang="en-US" sz="1500" b="0" i="0" u="none" strike="noStrike" cap="none" spc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oracle client</a:t>
                      </a:r>
                      <a:endParaRPr lang="ru-RU" sz="1500" b="0" i="0" u="none" strike="noStrike" cap="none" spc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10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виртуальной машине установил </a:t>
                      </a:r>
                      <a:r>
                        <a:rPr lang="en-US" sz="10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oracle client </a:t>
                      </a:r>
                      <a:r>
                        <a:rPr lang="ru-RU" sz="10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настроил подключение к тестовой базе АСУ МИИТ</a:t>
                      </a:r>
                      <a:endParaRPr lang="ru-RU" sz="1000" b="0" i="0" u="none" strike="noStrike" cap="none" spc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12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  <a:tabLst/>
                        <a:defRPr/>
                      </a:pPr>
                      <a:r>
                        <a:rPr lang="ru-RU" sz="1500" b="0" i="0" u="none" strike="noStrike" cap="none" spc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Установка </a:t>
                      </a:r>
                      <a:r>
                        <a:rPr lang="en-US" sz="1500" b="0" i="0" u="none" strike="noStrike" cap="none" spc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ora2pg</a:t>
                      </a:r>
                      <a:endParaRPr lang="ru-RU" sz="1500" b="0" i="0" u="none" strike="noStrike" cap="none" spc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10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виртуальной машине установил </a:t>
                      </a:r>
                      <a:r>
                        <a:rPr lang="en-US" sz="1000" b="0" i="0" u="none" strike="noStrike" cap="none" spc="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perl</a:t>
                      </a:r>
                      <a:r>
                        <a:rPr lang="en-US" sz="10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приложение </a:t>
                      </a:r>
                      <a:r>
                        <a:rPr lang="en-US" sz="10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ora2pg </a:t>
                      </a:r>
                      <a:r>
                        <a:rPr lang="ru-RU" sz="10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выполнения миграции</a:t>
                      </a:r>
                      <a:endParaRPr lang="ru-RU" sz="1000" b="0" i="0" u="none" strike="noStrike" cap="none" spc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  <a:tabLst/>
                        <a:defRPr/>
                      </a:pPr>
                      <a:r>
                        <a:rPr lang="ru-RU" sz="1500" b="0" i="0" u="none" strike="noStrike" cap="none" spc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Выполнение миграции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10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виртуальной машине с помощью приложения </a:t>
                      </a:r>
                      <a:r>
                        <a:rPr lang="en-US" sz="10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ora2pg </a:t>
                      </a:r>
                      <a:r>
                        <a:rPr lang="ru-RU" sz="10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выполнял генерацию структуры, объектов схемы и копирования данных (нескольких таблиц из-за ограничения объёма диска на ноутбуке)</a:t>
                      </a:r>
                      <a:endParaRPr sz="1000" b="0" i="0" u="none" strike="noStrike" cap="none" spc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29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endParaRPr sz="15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F288AED-E403-E278-0086-76AB76F56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902" y="1937256"/>
            <a:ext cx="2916577" cy="2983976"/>
          </a:xfrm>
          <a:prstGeom prst="rect">
            <a:avLst/>
          </a:prstGeom>
        </p:spPr>
      </p:pic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3130352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sp>
        <p:nvSpPr>
          <p:cNvPr id="3" name="Google Shape;150;p35">
            <a:extLst>
              <a:ext uri="{FF2B5EF4-FFF2-40B4-BE49-F238E27FC236}">
                <a16:creationId xmlns:a16="http://schemas.microsoft.com/office/drawing/2014/main" id="{8968769B-1256-1B84-15CF-ADA10228CA32}"/>
              </a:ext>
            </a:extLst>
          </p:cNvPr>
          <p:cNvSpPr txBox="1"/>
          <p:nvPr/>
        </p:nvSpPr>
        <p:spPr>
          <a:xfrm>
            <a:off x="500551" y="878674"/>
            <a:ext cx="3504122" cy="835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buClr>
                <a:srgbClr val="1A1A1A"/>
              </a:buClr>
              <a:buSzPts val="1900"/>
            </a:pPr>
            <a:r>
              <a:rPr lang="ru-RU" sz="1200" dirty="0"/>
              <a:t>Анализ схемы в источнике данных</a:t>
            </a:r>
          </a:p>
          <a:p>
            <a:pPr lvl="0">
              <a:lnSpc>
                <a:spcPct val="115000"/>
              </a:lnSpc>
              <a:buClr>
                <a:srgbClr val="1A1A1A"/>
              </a:buClr>
              <a:buSzPts val="1900"/>
            </a:pPr>
            <a:r>
              <a:rPr lang="ru-RU" sz="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исходной схеме данных более 1000 таблиц, 3,5 тысячи индексов, несколько сотен триггеров и последовательностей. Всего – 6,5 тысяч объектов. Данные занимают 76,7 Гб.</a:t>
            </a:r>
            <a:endParaRPr lang="ru-RU" sz="800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" name="Google Shape;150;p35">
            <a:extLst>
              <a:ext uri="{FF2B5EF4-FFF2-40B4-BE49-F238E27FC236}">
                <a16:creationId xmlns:a16="http://schemas.microsoft.com/office/drawing/2014/main" id="{BA364AF0-32EA-42EB-1661-C2527C87C3E8}"/>
              </a:ext>
            </a:extLst>
          </p:cNvPr>
          <p:cNvSpPr txBox="1"/>
          <p:nvPr/>
        </p:nvSpPr>
        <p:spPr>
          <a:xfrm>
            <a:off x="5139327" y="814060"/>
            <a:ext cx="3504122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buClr>
                <a:srgbClr val="1A1A1A"/>
              </a:buClr>
              <a:buSzPts val="1900"/>
            </a:pPr>
            <a:r>
              <a:rPr lang="ru-RU" sz="1200" dirty="0"/>
              <a:t>Результат тестовой миграции</a:t>
            </a:r>
          </a:p>
          <a:p>
            <a:pPr lvl="0">
              <a:lnSpc>
                <a:spcPct val="115000"/>
              </a:lnSpc>
              <a:buClr>
                <a:srgbClr val="1A1A1A"/>
              </a:buClr>
              <a:buSzPts val="1900"/>
            </a:pPr>
            <a:r>
              <a:rPr lang="ru-RU" sz="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базе-приёмнике </a:t>
            </a:r>
            <a:r>
              <a:rPr lang="en-US" sz="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PostgreSQL </a:t>
            </a:r>
            <a:r>
              <a:rPr lang="ru-RU" sz="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были созданы все таблицы, индексы, ключи и триггеры, а также выполнен импорт данных выборочных таблиц.</a:t>
            </a:r>
            <a:r>
              <a:rPr lang="en-US" sz="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Ссылка на отчёт в </a:t>
            </a:r>
            <a:r>
              <a:rPr lang="en-US" sz="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github</a:t>
            </a:r>
            <a:endParaRPr lang="ru-RU" sz="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1E89365-CD3E-B797-8C47-4CB7DF7EA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5163" y="1714256"/>
            <a:ext cx="2918286" cy="189945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2FE42AD-EEE1-CF97-2F8F-4389C69619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312" y="1635793"/>
            <a:ext cx="3208796" cy="328543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EAD2EB0-BA94-E432-F904-8CDF2176E8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6871" y="3429245"/>
            <a:ext cx="2916578" cy="16328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2710703283"/>
              </p:ext>
            </p:extLst>
          </p:nvPr>
        </p:nvGraphicFramePr>
        <p:xfrm>
          <a:off x="952500" y="1124374"/>
          <a:ext cx="7239000" cy="3902306"/>
        </p:xfrm>
        <a:graphic>
          <a:graphicData uri="http://schemas.openxmlformats.org/drawingml/2006/table">
            <a:tbl>
              <a:tblPr>
                <a:noFill/>
                <a:tableStyleId>{C5C2AEFA-F53E-4315-AB99-AAC5F7A6205D}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701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Выбранное ПО </a:t>
                      </a:r>
                      <a:r>
                        <a:rPr lang="en-US" sz="16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ora2pg </a:t>
                      </a:r>
                      <a:r>
                        <a:rPr lang="ru-RU" sz="16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вполне справляется с задачей миграции и сильно облегчает ручную работу</a:t>
                      </a:r>
                      <a:endParaRPr sz="1600" b="0" i="0" u="none" strike="noStrike" cap="none" spc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09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Конечно, перенести программный код логики процедур на </a:t>
                      </a:r>
                      <a:r>
                        <a:rPr lang="en-US" sz="16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PL/SQL </a:t>
                      </a:r>
                      <a:r>
                        <a:rPr lang="ru-RU" sz="16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</a:t>
                      </a:r>
                      <a:r>
                        <a:rPr lang="en-US" sz="1600" b="0" i="0" u="none" strike="noStrike" cap="none" spc="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pgsql</a:t>
                      </a:r>
                      <a:r>
                        <a:rPr lang="en-US" sz="16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6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автоматически невозможно и потом придётся выполнять эту отладку вручную</a:t>
                      </a:r>
                      <a:endParaRPr sz="1600" b="0" i="0" u="none" strike="noStrike" cap="none" spc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01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Структура таблиц, индексы, внешние ключи и данные мигрируют почти идеально</a:t>
                      </a:r>
                      <a:endParaRPr sz="1600" b="0" i="0" u="none" strike="noStrike" cap="none" spc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45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 полученным результатам тестовой миграции необходимо составить подробный план дальнейшей работы и тестированию программного интерфейса по работе с СУБД </a:t>
                      </a:r>
                      <a:r>
                        <a:rPr lang="en-US" sz="1600" b="0" i="0" u="none" strike="noStrike" cap="none" spc="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postgreSQL</a:t>
                      </a:r>
                      <a:endParaRPr lang="ru-RU" sz="1600" b="0" i="0" u="none" strike="noStrike" cap="none" spc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9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755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404</Words>
  <Application>Microsoft Office PowerPoint</Application>
  <PresentationFormat>Экран (16:9)</PresentationFormat>
  <Paragraphs>73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Courier New</vt:lpstr>
      <vt:lpstr>Roboto</vt:lpstr>
      <vt:lpstr>Roboto Medium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Миграция базы данных АСУ МИИТ из СУБД Oracle на PostgreSQL    </vt:lpstr>
      <vt:lpstr>План защиты</vt:lpstr>
      <vt:lpstr>Презентация PowerPoint</vt:lpstr>
      <vt:lpstr>Какие технологии использовались </vt:lpstr>
      <vt:lpstr>Процесс через этапы </vt:lpstr>
      <vt:lpstr>Что получилось</vt:lpstr>
      <vt:lpstr>Выводы 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Андрей</dc:creator>
  <cp:lastModifiedBy>Борис Кужнуров</cp:lastModifiedBy>
  <cp:revision>23</cp:revision>
  <dcterms:modified xsi:type="dcterms:W3CDTF">2026-08-10T12:11:49Z</dcterms:modified>
</cp:coreProperties>
</file>